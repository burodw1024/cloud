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problem: the organization has data, notices, policies, core systems, and external scoring models, but users need one secure AI interface that can reason over them without exposing data to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management-focused. The value is not just technology; it is a governed operating layer over existing enterprise data and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current challenge is not absence of systems; it is that the knowledge and systems are not consumable through one intelligent and governed access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future state: staff do not need to know which database, file, endpoint, or model to call. The enterprise AI assistant orchestrates it according to role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system in one minute. Users interact with the Django chat interface. The router chooses between RAG, Oracle/NiFi APIs, Zypl scoring, website RAG, or general controlled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experience is not one generic chatbot. It is segmented by role, sensitivity, and module. This helps adoption while reducing security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features slide. It shows management the breadth without going too deep into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is modular. A question is not directly sent to a model. It goes through routing, role checks, data retrieval, grounding, and controlled response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explains RAG to non-technical management: the system does not memorize documents blindly; it indexes approved knowledge with metadata and retrieves relevant evidence before answering.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management point: the language model is not the source of accounting or loan numbers. It routes, explains, and summarizes; Oracle remains the system of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this is action-oriented AI. It does not just answer; it can orchestrate external model calls and return operational results with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management, security is a core differentiator. This is not a general public chatbot. It is a controlled access layer with module isolation and internal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already has Kubernetes, NFS, Qdrant, Ollama, NiFi, monitoring, and related systems. This slide shows that the AI assistant is aligned with existing IT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technology leadership. It makes clear that each component has a specific job; the model does not replace the database or integration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provides high immediate value because notices and policies are usually common bottlenecks across departments.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AI moves beyond documents to live business operations. It is a bridge between conversational interface and internal operational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public/private separation clearly: the public website assistant can answer public questions without login, but internal modules remain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assistant should not be limited to English-speaking technical users. Bangla support is a strategic adoption requirement. Voice input can be phased in after text chat stabilizes.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administration is a first-class requirement. Without admin tools, the solution remains dependent on technical staff; with admin tools, departments can maintain their own knowledge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production AI service requires observability: not only whether the chatbot is up, but whether retrieval, generation, scoring, database, and integrations are healthy.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benefits practical. This is not generic AI transformation; it directly reduces document search time, improves support, controls sensitive data, and creates reusable AI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trust. AI risks are real, but the architecture addresses them through source grounding, RBAC, system-of-record data, monitoring, and operating procedures.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positions the platform honestly: the foundation and key modules exist, but management sponsorship is needed to standardize and scale it as a formal enterprise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is deliberately practical. Avoid promising too much too quickly. The priority is stability, pilot, metrics, then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presentation with clear asks. Management should approve the pilot, appoint owners, and support production hardening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will ask how success is measured. This slide proposes a simple but balanced KPI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for transition from technology to management operating model. IT can run the platform, but business departments must own content and access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call to action: approve the pilot, assign owners, and measure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for technical reviewers. This can be skipped in the main management discussion unless they ask for implementation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1E6DF0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74A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- INTERNAL MANAGEMENT PRESENTATION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555480" y="651052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74A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Assistant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tech_corporate_ai_concept_illustrati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88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68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566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0D6E8"/>
                </a:solidFill>
              </a:rPr>
              <a:t>MANAGEMENT BRIEFING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58368" y="123444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AI Assistant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76656" y="1984248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D7EAFF"/>
                </a:solidFill>
              </a:rPr>
              <a:t>Secure on-premises LLM platform for knowledge, operations, customer support, scoring, and decision intelligence</a:t>
            </a:r>
            <a:endParaRPr lang="en-US" sz="1720" dirty="0"/>
          </a:p>
        </p:txBody>
      </p:sp>
      <p:sp>
        <p:nvSpPr>
          <p:cNvPr id="8" name="Shape 5"/>
          <p:cNvSpPr/>
          <p:nvPr/>
        </p:nvSpPr>
        <p:spPr>
          <a:xfrm>
            <a:off x="685800" y="2907792"/>
            <a:ext cx="1152144" cy="283464"/>
          </a:xfrm>
          <a:prstGeom prst="roundRect">
            <a:avLst>
              <a:gd name="adj" fmla="val 19355"/>
            </a:avLst>
          </a:prstGeom>
          <a:solidFill>
            <a:srgbClr val="20D6E8">
              <a:alpha val="12000"/>
            </a:srgbClr>
          </a:solidFill>
          <a:ln w="12700">
            <a:solidFill>
              <a:srgbClr val="20D6E8">
                <a:alpha val="6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2979115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On-prem AI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1984248" y="2907792"/>
            <a:ext cx="1143000" cy="283464"/>
          </a:xfrm>
          <a:prstGeom prst="roundRect">
            <a:avLst>
              <a:gd name="adj" fmla="val 19355"/>
            </a:avLst>
          </a:prstGeom>
          <a:solidFill>
            <a:srgbClr val="37D689">
              <a:alpha val="12000"/>
            </a:srgbClr>
          </a:solidFill>
          <a:ln w="12700">
            <a:solidFill>
              <a:srgbClr val="37D689">
                <a:alpha val="6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979115"/>
            <a:ext cx="9966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Role-aware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3291840" y="2907792"/>
            <a:ext cx="1243584" cy="283464"/>
          </a:xfrm>
          <a:prstGeom prst="roundRect">
            <a:avLst>
              <a:gd name="adj" fmla="val 19355"/>
            </a:avLst>
          </a:prstGeom>
          <a:solidFill>
            <a:srgbClr val="FFB454">
              <a:alpha val="12000"/>
            </a:srgbClr>
          </a:solidFill>
          <a:ln w="12700">
            <a:solidFill>
              <a:srgbClr val="FFB454">
                <a:alpha val="6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2979115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Bangla-ready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4681728" y="2907792"/>
            <a:ext cx="1417320" cy="283464"/>
          </a:xfrm>
          <a:prstGeom prst="roundRect">
            <a:avLst>
              <a:gd name="adj" fmla="val 19355"/>
            </a:avLst>
          </a:prstGeom>
          <a:solidFill>
            <a:srgbClr val="8A5CF6">
              <a:alpha val="12000"/>
            </a:srgbClr>
          </a:solidFill>
          <a:ln w="12700">
            <a:solidFill>
              <a:srgbClr val="8A5CF6">
                <a:alpha val="6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979115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Enterprise RAG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94944" y="59984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8C1D8"/>
                </a:solidFill>
              </a:rPr>
              <a:t>Internal presentation | May 2026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case for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platform changes for the organization</a:t>
            </a: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F5F9FF"/>
                </a:solidFill>
              </a:rPr>
              <a:t>The solution turns scattered institutional knowledge and operational systems into a governed AI interface that answers, routes, searches, scores, and explains in plain language.</a:t>
            </a:r>
            <a:endParaRPr lang="en-US" sz="1940" dirty="0"/>
          </a:p>
        </p:txBody>
      </p:sp>
      <p:sp>
        <p:nvSpPr>
          <p:cNvPr id="6" name="Shape 4"/>
          <p:cNvSpPr/>
          <p:nvPr/>
        </p:nvSpPr>
        <p:spPr>
          <a:xfrm>
            <a:off x="6675120" y="1115568"/>
            <a:ext cx="2304288" cy="1325880"/>
          </a:xfrm>
          <a:prstGeom prst="roundRect">
            <a:avLst>
              <a:gd name="adj" fmla="val 5517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0568" y="1280160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62572" y="133045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↗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78624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outcome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876288" y="1664208"/>
            <a:ext cx="190195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staff response, improved decision support, repeatable service quality, and stronger institutional memory.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9235440" y="1115568"/>
            <a:ext cx="2304288" cy="1325880"/>
          </a:xfrm>
          <a:prstGeom prst="roundRect">
            <a:avLst>
              <a:gd name="adj" fmla="val 5517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90888" y="1280160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22892" y="133045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🔒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838944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outcome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9436608" y="1664208"/>
            <a:ext cx="190195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access, internal hosting, audit trail, and clear separation between public and sensitive modules.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58368" y="2852928"/>
            <a:ext cx="3493008" cy="1490472"/>
          </a:xfrm>
          <a:prstGeom prst="roundRect">
            <a:avLst>
              <a:gd name="adj" fmla="val 490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" y="3017520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" y="306781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61872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for internal reality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59536" y="3401568"/>
            <a:ext cx="30906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Oracle, NiFi, Qdrant, Ollama, Kubernetes, NFS, documents, notices, policies, and website content.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370832" y="2852928"/>
            <a:ext cx="3493008" cy="1490472"/>
          </a:xfrm>
          <a:prstGeom prst="roundRect">
            <a:avLst>
              <a:gd name="adj" fmla="val 490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017520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8284" y="306781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74336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Bangla-first adoption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4572000" y="3401568"/>
            <a:ext cx="30906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Bangla and English user queries, with a path to Bangla voice input for field and branch users.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083296" y="2852928"/>
            <a:ext cx="3493008" cy="1490472"/>
          </a:xfrm>
          <a:prstGeom prst="roundRect">
            <a:avLst>
              <a:gd name="adj" fmla="val 490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38744" y="3017520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0748" y="306781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▶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Action-oriented AI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8284464" y="3401568"/>
            <a:ext cx="30906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only chat: it can trigger RAG search, Oracle-backed APIs, Zypl scoring, live logs, and admin workflows.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676656" y="4983480"/>
            <a:ext cx="2240280" cy="1115568"/>
          </a:xfrm>
          <a:prstGeom prst="roundRect">
            <a:avLst>
              <a:gd name="adj" fmla="val 8197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111496"/>
            <a:ext cx="1911096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D6E8"/>
                </a:solidFill>
              </a:rPr>
              <a:t>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59536" y="5742066"/>
            <a:ext cx="187452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Secure interface for multiple departments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3154680" y="4983480"/>
            <a:ext cx="2240280" cy="1115568"/>
          </a:xfrm>
          <a:prstGeom prst="roundRect">
            <a:avLst>
              <a:gd name="adj" fmla="val 8197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37D689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5111496"/>
            <a:ext cx="1911096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7D689"/>
                </a:solidFill>
              </a:rPr>
              <a:t>24/7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337560" y="5742066"/>
            <a:ext cx="187452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Knowledge access without waiting for human routing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5632704" y="4983480"/>
            <a:ext cx="2240280" cy="1115568"/>
          </a:xfrm>
          <a:prstGeom prst="roundRect">
            <a:avLst>
              <a:gd name="adj" fmla="val 8197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97296" y="5111496"/>
            <a:ext cx="1911096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B454"/>
                </a:solidFill>
              </a:rPr>
              <a:t>On-prem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815584" y="5742066"/>
            <a:ext cx="187452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No public cloud dependency for core LLM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8110728" y="4983480"/>
            <a:ext cx="2240280" cy="1115568"/>
          </a:xfrm>
          <a:prstGeom prst="roundRect">
            <a:avLst>
              <a:gd name="adj" fmla="val 8197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8A5CF6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5111496"/>
            <a:ext cx="1911096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A5CF6"/>
                </a:solidFill>
              </a:rPr>
              <a:t>RBAC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293608" y="5742066"/>
            <a:ext cx="187452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Controlled access by role/module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operational problem we are solving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data exists, but staff access is fragmented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685800" y="117043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335024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" y="138531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89304" y="1335024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overload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886968" y="1719072"/>
            <a:ext cx="48097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Policies, circulars, notices, manuals, and uploaded files are difficult to search consistently.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309360" y="117043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1335024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6812" y="138531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🔗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12864" y="1335024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fragmentation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6510528" y="1719072"/>
            <a:ext cx="48097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Oracle, core loan data, cashflow data, website information, and external scoring are not available through one interface.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85800" y="243230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2596896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" y="2647188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⏳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9304" y="2596896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dependency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86968" y="2980944"/>
            <a:ext cx="48097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rely on specific technical people or department experts to interpret data and documents.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309360" y="243230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2596896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6812" y="2647188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অ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12864" y="2596896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barrier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6510528" y="2980944"/>
            <a:ext cx="48097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Bangla-first users need natural language access, not only dashboards or SQL screens.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85800" y="369417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3858768"/>
            <a:ext cx="347472" cy="347472"/>
          </a:xfrm>
          <a:prstGeom prst="ellipse">
            <a:avLst/>
          </a:prstGeom>
          <a:solidFill>
            <a:srgbClr val="FF6868">
              <a:alpha val="18000"/>
            </a:srgbClr>
          </a:solidFill>
          <a:ln w="12700">
            <a:solidFill>
              <a:srgbClr val="FF6868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" y="390906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⚠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89304" y="385876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risk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886968" y="4242816"/>
            <a:ext cx="48097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AI tools cannot be used safely for sensitive internal data without access control and isolation.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5074920" y="5596128"/>
            <a:ext cx="2011680" cy="0"/>
          </a:xfrm>
          <a:prstGeom prst="line">
            <a:avLst/>
          </a:prstGeom>
          <a:noFill/>
          <a:ln w="1778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5696712"/>
            <a:ext cx="8028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9FF"/>
                </a:solidFill>
              </a:rPr>
              <a:t>Management need: a secure enterprise AI layer that reduces friction without compromising control.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tech_control_room_boardroom_sc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76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82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vision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central AI operating layer for the whole organization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694944" y="13258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information search to intelligent action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49808" y="43434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D2D50">
              <a:alpha val="90000"/>
            </a:srgbClr>
          </a:solidFill>
          <a:ln w="1270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446227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D6E8"/>
                </a:solidFill>
              </a:rPr>
              <a:t>Ask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2376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8C1D8"/>
                </a:solidFill>
              </a:rPr>
              <a:t>Staff ask in Bangla or English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2414016" y="4626864"/>
            <a:ext cx="484632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90088" y="43434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D2D50">
              <a:alpha val="90000"/>
            </a:srgbClr>
          </a:solidFill>
          <a:ln w="1270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99816" y="446227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D6E8"/>
                </a:solidFill>
              </a:rPr>
              <a:t>Understand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62656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8C1D8"/>
                </a:solidFill>
              </a:rPr>
              <a:t>Router detects module and intent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4654296" y="4626864"/>
            <a:ext cx="484632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30368" y="43434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D2D50">
              <a:alpha val="90000"/>
            </a:srgbClr>
          </a:solidFill>
          <a:ln w="1270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0096" y="446227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D6E8"/>
                </a:solidFill>
              </a:rPr>
              <a:t>Retrieve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02936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8C1D8"/>
                </a:solidFill>
              </a:rPr>
              <a:t>Relevant knowledge and live data are fetched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6894576" y="4626864"/>
            <a:ext cx="484632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470648" y="43434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D2D50">
              <a:alpha val="90000"/>
            </a:srgbClr>
          </a:solidFill>
          <a:ln w="1270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0376" y="446227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D6E8"/>
                </a:solidFill>
              </a:rPr>
              <a:t>Act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43216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8C1D8"/>
                </a:solidFill>
              </a:rPr>
              <a:t>System scores, searches, explains, or routes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9134856" y="4626864"/>
            <a:ext cx="484632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710928" y="43434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D2D50">
              <a:alpha val="90000"/>
            </a:srgbClr>
          </a:solidFill>
          <a:ln w="1270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20656" y="446227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D6E8"/>
                </a:solidFill>
              </a:rPr>
              <a:t>Govern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683496" y="5056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A8C1D8"/>
                </a:solidFill>
              </a:rPr>
              <a:t>RBAC and audit controls protect the process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secured AI chat layer over knowledge, data, models, and workflows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2286000" y="3218688"/>
            <a:ext cx="24231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52360" y="3218688"/>
            <a:ext cx="2075688" cy="-1344168"/>
          </a:xfrm>
          <a:prstGeom prst="line">
            <a:avLst/>
          </a:prstGeom>
          <a:noFill/>
          <a:ln w="17780">
            <a:solidFill>
              <a:srgbClr val="1E6DF0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52360" y="3218688"/>
            <a:ext cx="2075688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3218688"/>
            <a:ext cx="2075688" cy="1353312"/>
          </a:xfrm>
          <a:prstGeom prst="line">
            <a:avLst/>
          </a:prstGeom>
          <a:noFill/>
          <a:ln w="17780">
            <a:solidFill>
              <a:srgbClr val="37D689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187452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984248"/>
            <a:ext cx="1289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Users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768096" y="2295144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Management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HR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Branches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658368" y="288036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990088"/>
            <a:ext cx="1289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Channels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768096" y="3300984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Django Web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Public Website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Voice-ready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58368" y="3886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8A5CF6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995928"/>
            <a:ext cx="1289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Identity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768096" y="4306824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Microsoft email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Domain check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User roles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2788920" cy="3337560"/>
          </a:xfrm>
          <a:prstGeom prst="roundRect">
            <a:avLst>
              <a:gd name="adj" fmla="val 3934"/>
            </a:avLst>
          </a:prstGeom>
          <a:solidFill>
            <a:srgbClr val="0B2D52">
              <a:alpha val="96000"/>
            </a:srgbClr>
          </a:solidFill>
          <a:ln w="19050">
            <a:solidFill>
              <a:srgbClr val="20D6E8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90195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9FF"/>
                </a:solidFill>
              </a:rPr>
              <a:t>Enterprise AI Core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66360" y="2514600"/>
            <a:ext cx="1783080" cy="283464"/>
          </a:xfrm>
          <a:prstGeom prst="roundRect">
            <a:avLst>
              <a:gd name="adj" fmla="val 19355"/>
            </a:avLst>
          </a:prstGeom>
          <a:solidFill>
            <a:srgbClr val="20D6E8">
              <a:alpha val="12000"/>
            </a:srgbClr>
          </a:solidFill>
          <a:ln w="12700">
            <a:solidFill>
              <a:srgbClr val="20D6E8">
                <a:alpha val="6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2585923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Auto Router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166360" y="2907792"/>
            <a:ext cx="1783080" cy="283464"/>
          </a:xfrm>
          <a:prstGeom prst="roundRect">
            <a:avLst>
              <a:gd name="adj" fmla="val 19355"/>
            </a:avLst>
          </a:prstGeom>
          <a:solidFill>
            <a:srgbClr val="37D689">
              <a:alpha val="12000"/>
            </a:srgbClr>
          </a:solidFill>
          <a:ln w="12700">
            <a:solidFill>
              <a:srgbClr val="37D689">
                <a:alpha val="6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2979115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RAG Retrieval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166360" y="3300984"/>
            <a:ext cx="1783080" cy="283464"/>
          </a:xfrm>
          <a:prstGeom prst="roundRect">
            <a:avLst>
              <a:gd name="adj" fmla="val 19355"/>
            </a:avLst>
          </a:prstGeom>
          <a:solidFill>
            <a:srgbClr val="FFB454">
              <a:alpha val="12000"/>
            </a:srgbClr>
          </a:solidFill>
          <a:ln w="12700">
            <a:solidFill>
              <a:srgbClr val="FFB454">
                <a:alpha val="6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3372307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Agentic Workflows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166360" y="3694176"/>
            <a:ext cx="1783080" cy="283464"/>
          </a:xfrm>
          <a:prstGeom prst="roundRect">
            <a:avLst>
              <a:gd name="adj" fmla="val 19355"/>
            </a:avLst>
          </a:prstGeom>
          <a:solidFill>
            <a:srgbClr val="8A5CF6">
              <a:alpha val="12000"/>
            </a:srgbClr>
          </a:solidFill>
          <a:ln w="12700">
            <a:solidFill>
              <a:srgbClr val="8A5CF6">
                <a:alpha val="6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3765499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LLM Explanation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166360" y="4087368"/>
            <a:ext cx="1783080" cy="283464"/>
          </a:xfrm>
          <a:prstGeom prst="roundRect">
            <a:avLst>
              <a:gd name="adj" fmla="val 19355"/>
            </a:avLst>
          </a:prstGeom>
          <a:solidFill>
            <a:srgbClr val="1E6DF0">
              <a:alpha val="12000"/>
            </a:srgbClr>
          </a:solidFill>
          <a:ln w="12700">
            <a:solidFill>
              <a:srgbClr val="1E6DF0">
                <a:alpha val="6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4158691"/>
            <a:ext cx="1636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Audit &amp; Admin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528048" y="1399032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7776" y="150876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Knowledge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9637776" y="181965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Policies, notices, circulars, website, manuals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9528048" y="2852928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37776" y="296265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Enterprise Data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9637776" y="327355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Oracle DW/Core via NiFi APIs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9528048" y="42976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37776" y="440740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External Models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9637776" y="471830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Zypl scoring integration and logs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828800" y="5870448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9FF"/>
                </a:solidFill>
              </a:rPr>
              <a:t>Core principle: sensitive data stays governed; answers are grounded in approved sources and live systems.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 value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users get different value through the same platform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39903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" y="14493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◎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61872" y="139903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859536" y="1783080"/>
            <a:ext cx="29352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intelligence, rollout visibility, adoption metrics, risk controls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07408" y="12344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39903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4860" y="14493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▣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10912" y="139903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HR &amp; Admin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608576" y="1783080"/>
            <a:ext cx="29352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Q&amp;A, notices, circular upload, HR knowledge retrieval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156448" y="12344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1896" y="139903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3900" y="14493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59952" y="139903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Branch staff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357616" y="1783080"/>
            <a:ext cx="29352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support, loanee lookup, branch-wise queries, Bangla explanations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58368" y="31089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3273552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" y="33238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◆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61872" y="327355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Cashflow users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859536" y="3657600"/>
            <a:ext cx="29352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Agent-guided scoring, Zypl API integration, live scoring logs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407408" y="31089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856" y="3273552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4860" y="33238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10912" y="327355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&amp; Data team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4608576" y="3657600"/>
            <a:ext cx="29352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 control, K8s deployment, Qdrant tools, monitoring, data pipelines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156448" y="31089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1896" y="327355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3900" y="33238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◇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59952" y="327355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users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357616" y="3657600"/>
            <a:ext cx="29352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Q&amp;A without exposing internal modules or requiring login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2057400" y="5669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5F9FF"/>
                </a:solidFill>
              </a:rPr>
              <a:t>One platform, many role-based experiences - no single user sees everything.</a:t>
            </a:r>
            <a:endParaRPr lang="en-US" sz="1310" dirty="0"/>
          </a:p>
        </p:txBody>
      </p:sp>
      <p:sp>
        <p:nvSpPr>
          <p:cNvPr id="36" name="Text 34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portfolio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platform can do today and what it is prepared to do next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335024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" y="138531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↪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61872" y="1335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Chat + Auto Router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859536" y="1719072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question goes to correct module or workflow.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511296" y="1170432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1335024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8748" y="138531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0" y="1335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Knowledge Search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3712464" y="1719072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answers from policy, notice, circular, website, and curated data collections.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364224" y="1170432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1335024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138531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▦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67728" y="1335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Oracle/NiFi Live Data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565392" y="1719072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 and operational facts retrieved from internal databases, not hallucinated.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9217152" y="1170432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1335024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4604" y="138531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◎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820656" y="1335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Zypl Scoring Agent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9418320" y="1719072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customer features, sends API request, returns score and logs.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8368" y="3255264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" y="3419856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" y="3470148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61872" y="3419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Console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859536" y="3803904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Upload, index, monitor collections, sync website, manage module tools.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3511296" y="3255264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66744" y="3419856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8748" y="3470148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3419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Bangla + Voice Path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3712464" y="3803904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Bangla-first user journey with future offline/controlled speech-to-text.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364224" y="3255264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9672" y="3419856"/>
            <a:ext cx="347472" cy="347472"/>
          </a:xfrm>
          <a:prstGeom prst="ellipse">
            <a:avLst/>
          </a:prstGeom>
          <a:solidFill>
            <a:srgbClr val="FF6868">
              <a:alpha val="18000"/>
            </a:srgbClr>
          </a:solidFill>
          <a:ln w="12700">
            <a:solidFill>
              <a:srgbClr val="FF6868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1676" y="3470148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🔐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67728" y="3419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RBAC</a:t>
            </a:r>
            <a:endParaRPr lang="en-US" sz="1260" dirty="0"/>
          </a:p>
        </p:txBody>
      </p:sp>
      <p:sp>
        <p:nvSpPr>
          <p:cNvPr id="39" name="Text 37"/>
          <p:cNvSpPr/>
          <p:nvPr/>
        </p:nvSpPr>
        <p:spPr>
          <a:xfrm>
            <a:off x="6565392" y="3803904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 restrict modules, sensitive flows, and admin actions.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9217152" y="3255264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72600" y="3419856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04604" y="3470148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📈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820656" y="3419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</a:t>
            </a:r>
            <a:endParaRPr lang="en-US" sz="1260" dirty="0"/>
          </a:p>
        </p:txBody>
      </p:sp>
      <p:sp>
        <p:nvSpPr>
          <p:cNvPr id="44" name="Text 42"/>
          <p:cNvSpPr/>
          <p:nvPr/>
        </p:nvSpPr>
        <p:spPr>
          <a:xfrm>
            <a:off x="9418320" y="3803904"/>
            <a:ext cx="208483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Prometheus/Grafana/K8s health for production operations.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Modular, governed, and extensible by design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2011680" y="3063240"/>
            <a:ext cx="169164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3063240"/>
            <a:ext cx="1554480" cy="-1325880"/>
          </a:xfrm>
          <a:prstGeom prst="line">
            <a:avLst/>
          </a:prstGeom>
          <a:noFill/>
          <a:ln w="17780">
            <a:solidFill>
              <a:srgbClr val="37D689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0760" y="3063240"/>
            <a:ext cx="155448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3063240"/>
            <a:ext cx="1554480" cy="132588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875520" y="1737360"/>
            <a:ext cx="1188720" cy="0"/>
          </a:xfrm>
          <a:prstGeom prst="line">
            <a:avLst/>
          </a:prstGeom>
          <a:noFill/>
          <a:ln w="17780">
            <a:solidFill>
              <a:srgbClr val="37D689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75520" y="3063240"/>
            <a:ext cx="118872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75520" y="4389120"/>
            <a:ext cx="1188720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228600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95728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User Layer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704088" y="2706624"/>
            <a:ext cx="119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Django UI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Public website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Browser mic path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Microsoft login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3703320" y="2029968"/>
            <a:ext cx="2377440" cy="2066544"/>
          </a:xfrm>
          <a:prstGeom prst="roundRect">
            <a:avLst>
              <a:gd name="adj" fmla="val 354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1E6DF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139696"/>
            <a:ext cx="2157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Application Layer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3813048" y="2450592"/>
            <a:ext cx="215798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Auto router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RBAC checks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Module handlers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Admin tools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Audit-ready flows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4968" y="1389888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Knowledge Layer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7744968" y="1700784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Qdrant vector collections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Policies / notices / website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635240" y="260604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4968" y="2715768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Data Layer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7744968" y="3026664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NiFi HTTP APIs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Oracle DW/Core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SQL guardrails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7635240" y="39319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4041648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Model &amp; Actions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744968" y="4352544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Ollama LLM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Embeddings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Zypl API scoring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10835640" y="12801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45368" y="138988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Docs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10945368" y="1700784"/>
            <a:ext cx="694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PDF/DOCX/JSONL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10835640" y="26060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45368" y="271576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Oracle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10945368" y="3026664"/>
            <a:ext cx="694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Live facts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1083564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45368" y="404164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APIs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10945368" y="4352544"/>
            <a:ext cx="694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External &amp; internal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143000" y="570585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5F9FF"/>
                </a:solidFill>
              </a:rPr>
              <a:t>Production foundation: Kubernetes, NFS persistent volumes, NodePort/internal DNS, Prometheus/Grafana, and secure network boundaries.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knowledge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approved documents become reliable AI answers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2130552" y="2816352"/>
            <a:ext cx="3657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13232" y="2029968"/>
            <a:ext cx="1417320" cy="1170432"/>
          </a:xfrm>
          <a:prstGeom prst="hexagon">
            <a:avLst/>
          </a:prstGeom>
          <a:solidFill>
            <a:srgbClr val="0B2B4E">
              <a:alpha val="95000"/>
            </a:srgbClr>
          </a:solidFill>
          <a:ln w="15240">
            <a:solidFill>
              <a:srgbClr val="20D6E8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9FF"/>
                </a:solidFill>
              </a:rPr>
              <a:t>1. Source intake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3429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C1D8"/>
                </a:solidFill>
              </a:rPr>
              <a:t>Policies, notices, circulars, website pages, manuals, JSONL datasets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977640" y="2816352"/>
            <a:ext cx="3657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2029968"/>
            <a:ext cx="1417320" cy="1170432"/>
          </a:xfrm>
          <a:prstGeom prst="hexagon">
            <a:avLst/>
          </a:prstGeom>
          <a:solidFill>
            <a:srgbClr val="0B2B4E">
              <a:alpha val="95000"/>
            </a:srgbClr>
          </a:solidFill>
          <a:ln w="15240">
            <a:solidFill>
              <a:srgbClr val="37D689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395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9FF"/>
                </a:solidFill>
              </a:rPr>
              <a:t>2. Extraction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50592" y="3429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C1D8"/>
                </a:solidFill>
              </a:rPr>
              <a:t>Text parsing, cleanup, metadata capture, language fields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24728" y="2816352"/>
            <a:ext cx="3657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07408" y="2029968"/>
            <a:ext cx="1417320" cy="1170432"/>
          </a:xfrm>
          <a:prstGeom prst="hexagon">
            <a:avLst/>
          </a:prstGeom>
          <a:solidFill>
            <a:srgbClr val="0B2B4E">
              <a:alpha val="95000"/>
            </a:srgbClr>
          </a:solidFill>
          <a:ln w="1524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2395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9FF"/>
                </a:solidFill>
              </a:rPr>
              <a:t>3. Chunking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0" y="3429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C1D8"/>
                </a:solidFill>
              </a:rPr>
              <a:t>Topic-wise or section-wise chunks with clause/date/source tags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71816" y="2816352"/>
            <a:ext cx="3657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54496" y="2029968"/>
            <a:ext cx="1417320" cy="1170432"/>
          </a:xfrm>
          <a:prstGeom prst="hexagon">
            <a:avLst/>
          </a:prstGeom>
          <a:solidFill>
            <a:srgbClr val="0B2B4E">
              <a:alpha val="95000"/>
            </a:srgbClr>
          </a:solidFill>
          <a:ln w="15240">
            <a:solidFill>
              <a:srgbClr val="8A5CF6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95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9FF"/>
                </a:solidFill>
              </a:rPr>
              <a:t>4. Embedding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44768" y="3429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C1D8"/>
                </a:solidFill>
              </a:rPr>
              <a:t>nomic-embed-text vectors; cosine search in Qdrant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18904" y="2816352"/>
            <a:ext cx="3657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01584" y="2029968"/>
            <a:ext cx="1417320" cy="1170432"/>
          </a:xfrm>
          <a:prstGeom prst="hexagon">
            <a:avLst/>
          </a:prstGeom>
          <a:solidFill>
            <a:srgbClr val="0B2B4E">
              <a:alpha val="95000"/>
            </a:srgbClr>
          </a:solidFill>
          <a:ln w="15240">
            <a:solidFill>
              <a:srgbClr val="1E6DF0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2395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9FF"/>
                </a:solidFill>
              </a:rPr>
              <a:t>5. Retrieval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91856" y="3429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C1D8"/>
                </a:solidFill>
              </a:rPr>
              <a:t>Top matches retrieved by module and access context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1365992" y="2816352"/>
            <a:ext cx="3657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48672" y="2029968"/>
            <a:ext cx="1417320" cy="1170432"/>
          </a:xfrm>
          <a:prstGeom prst="hexagon">
            <a:avLst/>
          </a:prstGeom>
          <a:solidFill>
            <a:srgbClr val="0B2B4E">
              <a:alpha val="95000"/>
            </a:srgbClr>
          </a:solidFill>
          <a:ln w="15240">
            <a:solidFill>
              <a:srgbClr val="20D6E8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2395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9FF"/>
                </a:solidFill>
              </a:rPr>
              <a:t>6. Answering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838944" y="3429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C1D8"/>
                </a:solidFill>
              </a:rPr>
              <a:t>Aya model explains using grounded excerpts and safe fallback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05840" y="4919472"/>
            <a:ext cx="3154680" cy="786384"/>
          </a:xfrm>
          <a:prstGeom prst="roundRect">
            <a:avLst>
              <a:gd name="adj" fmla="val 930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1288" y="5084064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93292" y="513435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09344" y="5084064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rule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1207008" y="5468112"/>
            <a:ext cx="27523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approved collections should answer sensitive internal questions.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4498848" y="4919472"/>
            <a:ext cx="3154680" cy="786384"/>
          </a:xfrm>
          <a:prstGeom prst="roundRect">
            <a:avLst>
              <a:gd name="adj" fmla="val 930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4296" y="5084064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513435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!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02352" y="5084064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rule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4700016" y="5468112"/>
            <a:ext cx="27523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no clear excerpt exists, the assistant should say so instead of inventing.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7991856" y="4919472"/>
            <a:ext cx="3154680" cy="786384"/>
          </a:xfrm>
          <a:prstGeom prst="roundRect">
            <a:avLst>
              <a:gd name="adj" fmla="val 930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47304" y="5084064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79308" y="513435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↻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95360" y="5084064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rule</a:t>
            </a:r>
            <a:endParaRPr lang="en-US" sz="1260" dirty="0"/>
          </a:p>
        </p:txBody>
      </p:sp>
      <p:sp>
        <p:nvSpPr>
          <p:cNvPr id="43" name="Text 41"/>
          <p:cNvSpPr/>
          <p:nvPr/>
        </p:nvSpPr>
        <p:spPr>
          <a:xfrm>
            <a:off x="8193024" y="5468112"/>
            <a:ext cx="27523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teams can upload and reindex notices/circulars continuously.</a:t>
            </a:r>
            <a:endParaRPr lang="en-US" sz="940" dirty="0"/>
          </a:p>
        </p:txBody>
      </p:sp>
      <p:sp>
        <p:nvSpPr>
          <p:cNvPr id="44" name="Text 42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enterprise data integration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 come from internal systems, not from the language model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2148840" y="2834640"/>
            <a:ext cx="169164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50992" y="2834640"/>
            <a:ext cx="173736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0" y="2834640"/>
            <a:ext cx="1691640" cy="0"/>
          </a:xfrm>
          <a:prstGeom prst="line">
            <a:avLst/>
          </a:prstGeom>
          <a:noFill/>
          <a:ln w="17780">
            <a:solidFill>
              <a:srgbClr val="37D689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3232" y="2176272"/>
            <a:ext cx="1444752" cy="1325880"/>
          </a:xfrm>
          <a:prstGeom prst="roundRect">
            <a:avLst>
              <a:gd name="adj" fmla="val 5517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User question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822960" y="2596896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Example: branch, loanee, balance, collection, date range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3840480" y="2176272"/>
            <a:ext cx="1810512" cy="1325880"/>
          </a:xfrm>
          <a:prstGeom prst="roundRect">
            <a:avLst>
              <a:gd name="adj" fmla="val 5517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1E6DF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228600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Intent + rules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3950208" y="2596896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Extract branch code, loanee no, date, metric, limit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7388352" y="2176272"/>
            <a:ext cx="1755648" cy="1325880"/>
          </a:xfrm>
          <a:prstGeom prst="roundRect">
            <a:avLst>
              <a:gd name="adj" fmla="val 5517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286000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NiFi API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498080" y="2596896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HTTP endpoint executes controlled Oracle query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10104120" y="2176272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3848" y="2286000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Oracle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0213848" y="2596896"/>
            <a:ext cx="1197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DW/Core source of truth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1993392" y="4709160"/>
            <a:ext cx="8156448" cy="749808"/>
          </a:xfrm>
          <a:prstGeom prst="roundRect">
            <a:avLst>
              <a:gd name="adj" fmla="val 14634"/>
            </a:avLst>
          </a:prstGeom>
          <a:solidFill>
            <a:srgbClr val="0A2A47"/>
          </a:solidFill>
          <a:ln w="1524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4919472"/>
            <a:ext cx="7708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5F9FF"/>
                </a:solidFill>
              </a:rPr>
              <a:t>Design guardrail: the LLM explains results, but transactional facts and numeric answers are retrieved from Oracle through controlled NiFi flows.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868680" y="4590288"/>
            <a:ext cx="914400" cy="987552"/>
          </a:xfrm>
          <a:prstGeom prst="roundRect">
            <a:avLst>
              <a:gd name="adj" fmla="val 10000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718304"/>
            <a:ext cx="585216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B454"/>
                </a:solidFill>
              </a:rPr>
              <a:t>API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5261823"/>
            <a:ext cx="548640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Controlled access path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10378440" y="4590288"/>
            <a:ext cx="914400" cy="987552"/>
          </a:xfrm>
          <a:prstGeom prst="roundRect">
            <a:avLst>
              <a:gd name="adj" fmla="val 10000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37D689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43032" y="4718304"/>
            <a:ext cx="585216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7D689"/>
                </a:solidFill>
              </a:rPr>
              <a:t>SQL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61320" y="5261823"/>
            <a:ext cx="548640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Guarded execution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cashflow scoring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conversational data collection to API-backed risk score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2084832" y="2907792"/>
            <a:ext cx="347472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0080" y="2084832"/>
            <a:ext cx="1444752" cy="1170432"/>
          </a:xfrm>
          <a:prstGeom prst="roundRect">
            <a:avLst>
              <a:gd name="adj" fmla="val 7813"/>
            </a:avLst>
          </a:prstGeom>
          <a:solidFill>
            <a:srgbClr val="102C49">
              <a:alpha val="95000"/>
            </a:srgbClr>
          </a:solidFill>
          <a:ln w="1524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311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2585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5F9FF"/>
                </a:solidFill>
              </a:rPr>
              <a:t>Start request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804672" y="26700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User asks to score a client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959352" y="2907792"/>
            <a:ext cx="347472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2084832"/>
            <a:ext cx="1444752" cy="1170432"/>
          </a:xfrm>
          <a:prstGeom prst="roundRect">
            <a:avLst>
              <a:gd name="adj" fmla="val 7813"/>
            </a:avLst>
          </a:prstGeom>
          <a:solidFill>
            <a:srgbClr val="102C49">
              <a:alpha val="95000"/>
            </a:srgbClr>
          </a:solidFill>
          <a:ln w="1524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2311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90088" y="22585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5F9FF"/>
                </a:solidFill>
              </a:rPr>
              <a:t>Collect fields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2679192" y="26700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Agent gathers required inputs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33872" y="2907792"/>
            <a:ext cx="347472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2084832"/>
            <a:ext cx="1444752" cy="1170432"/>
          </a:xfrm>
          <a:prstGeom prst="roundRect">
            <a:avLst>
              <a:gd name="adj" fmla="val 7813"/>
            </a:avLst>
          </a:prstGeom>
          <a:solidFill>
            <a:srgbClr val="102C49">
              <a:alpha val="95000"/>
            </a:srgbClr>
          </a:solidFill>
          <a:ln w="1524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2311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22585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5F9FF"/>
                </a:solidFill>
              </a:rPr>
              <a:t>Validate/default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553712" y="26700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Missing fields handled by policy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7708392" y="2907792"/>
            <a:ext cx="347472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63640" y="2084832"/>
            <a:ext cx="1444752" cy="1170432"/>
          </a:xfrm>
          <a:prstGeom prst="roundRect">
            <a:avLst>
              <a:gd name="adj" fmla="val 7813"/>
            </a:avLst>
          </a:prstGeom>
          <a:solidFill>
            <a:srgbClr val="102C49">
              <a:alpha val="95000"/>
            </a:srgbClr>
          </a:solidFill>
          <a:ln w="1524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2311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39128" y="22585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5F9FF"/>
                </a:solidFill>
              </a:rPr>
              <a:t>Authenticate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428232" y="26700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Zypl token/API login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9582912" y="2907792"/>
            <a:ext cx="347472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38160" y="2084832"/>
            <a:ext cx="1444752" cy="1170432"/>
          </a:xfrm>
          <a:prstGeom prst="roundRect">
            <a:avLst>
              <a:gd name="adj" fmla="val 7813"/>
            </a:avLst>
          </a:prstGeom>
          <a:solidFill>
            <a:srgbClr val="102C49">
              <a:alpha val="95000"/>
            </a:srgbClr>
          </a:solidFill>
          <a:ln w="15240">
            <a:solidFill>
              <a:srgbClr val="37D689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2311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689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22585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5F9FF"/>
                </a:solidFill>
              </a:rPr>
              <a:t>Score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8302752" y="26700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Submit payload to model endpoint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10012680" y="2084832"/>
            <a:ext cx="1444752" cy="1170432"/>
          </a:xfrm>
          <a:prstGeom prst="roundRect">
            <a:avLst>
              <a:gd name="adj" fmla="val 7813"/>
            </a:avLst>
          </a:prstGeom>
          <a:solidFill>
            <a:srgbClr val="102C49">
              <a:alpha val="95000"/>
            </a:srgbClr>
          </a:solidFill>
          <a:ln w="1524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22311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88168" y="22585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5F9FF"/>
                </a:solidFill>
              </a:rPr>
              <a:t>Log &amp; explain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10177272" y="26700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Return result + scoring logs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749808" y="450799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" y="4672584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" y="472287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353312" y="467258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strength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950976" y="5056632"/>
            <a:ext cx="29809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can collect client information, call Zypl securely, and return a live scoring result inside chat.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4407408" y="450799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62856" y="4672584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4860" y="472287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⇧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10912" y="467258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direction</a:t>
            </a:r>
            <a:endParaRPr lang="en-US" sz="1260" dirty="0"/>
          </a:p>
        </p:txBody>
      </p:sp>
      <p:sp>
        <p:nvSpPr>
          <p:cNvPr id="43" name="Text 41"/>
          <p:cNvSpPr/>
          <p:nvPr/>
        </p:nvSpPr>
        <p:spPr>
          <a:xfrm>
            <a:off x="4608576" y="5056632"/>
            <a:ext cx="29809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upload and batch scoring can become a controlled back-office workflow with result export.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8065008" y="450799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0456" y="4672584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52460" y="472287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🔐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668512" y="467258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requirement</a:t>
            </a:r>
            <a:endParaRPr lang="en-US" sz="1260" dirty="0"/>
          </a:p>
        </p:txBody>
      </p:sp>
      <p:sp>
        <p:nvSpPr>
          <p:cNvPr id="48" name="Text 46"/>
          <p:cNvSpPr/>
          <p:nvPr/>
        </p:nvSpPr>
        <p:spPr>
          <a:xfrm>
            <a:off x="8266176" y="5056632"/>
            <a:ext cx="29809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Cashflow role must control access; logs should be visible only to authorized users.</a:t>
            </a:r>
            <a:endParaRPr lang="en-US" sz="940" dirty="0"/>
          </a:p>
        </p:txBody>
      </p:sp>
      <p:sp>
        <p:nvSpPr>
          <p:cNvPr id="49" name="Text 47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professional_corporate_vector_3d_i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72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64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access governance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controlled internal usage, not open-ended public AI</a:t>
            </a:r>
            <a:endParaRPr lang="en-US" sz="930" dirty="0"/>
          </a:p>
        </p:txBody>
      </p:sp>
      <p:sp>
        <p:nvSpPr>
          <p:cNvPr id="8" name="Shape 5"/>
          <p:cNvSpPr/>
          <p:nvPr/>
        </p:nvSpPr>
        <p:spPr>
          <a:xfrm>
            <a:off x="713232" y="128016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4475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0684" y="1495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16736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914400" y="182880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email login, allowed domain, auto-create default general user.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4480560" y="128016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36008" y="144475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8012" y="1495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RB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84064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RBAC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4681728" y="182880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Module-level access: general, HR, policy, notice, cashflow, core, customer support, admin.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247888" y="128016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03336" y="144475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5340" y="1495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🏠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851392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boundary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8449056" y="182880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 model serving; sensitive data remains inside controlled infrastructure.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713232" y="329184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680" y="3456432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" y="35067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🌐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316736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isolation</a:t>
            </a:r>
            <a:endParaRPr lang="en-US" sz="1260" dirty="0"/>
          </a:p>
        </p:txBody>
      </p:sp>
      <p:sp>
        <p:nvSpPr>
          <p:cNvPr id="27" name="Text 24"/>
          <p:cNvSpPr/>
          <p:nvPr/>
        </p:nvSpPr>
        <p:spPr>
          <a:xfrm>
            <a:off x="914400" y="384048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Q&amp;A can be open without exposing internal modules.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4480560" y="329184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36008" y="3456432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8012" y="35067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LOG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84064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readiness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4681728" y="384048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scoring history, admin actions, and system health can be monitored.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8247888" y="329184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03336" y="345643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5340" y="35067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851392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Least privilege</a:t>
            </a:r>
            <a:endParaRPr lang="en-US" sz="1260" dirty="0"/>
          </a:p>
        </p:txBody>
      </p:sp>
      <p:sp>
        <p:nvSpPr>
          <p:cNvPr id="37" name="Text 34"/>
          <p:cNvSpPr/>
          <p:nvPr/>
        </p:nvSpPr>
        <p:spPr>
          <a:xfrm>
            <a:off x="8449056" y="384048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only access workflows needed for their role.</a:t>
            </a:r>
            <a:endParaRPr lang="en-US" sz="940" dirty="0"/>
          </a:p>
        </p:txBody>
      </p:sp>
      <p:sp>
        <p:nvSpPr>
          <p:cNvPr id="38" name="Text 35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isometric_infographic_3d_rend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65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3">
              <a:alpha val="72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On-premises Kubernetes deployment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Production-ready architecture using controlled internal infrastructure</a:t>
            </a:r>
            <a:endParaRPr lang="en-US" sz="930" dirty="0"/>
          </a:p>
        </p:txBody>
      </p:sp>
      <p:sp>
        <p:nvSpPr>
          <p:cNvPr id="8" name="Shape 5"/>
          <p:cNvSpPr/>
          <p:nvPr/>
        </p:nvSpPr>
        <p:spPr>
          <a:xfrm>
            <a:off x="786384" y="461772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0A243F">
              <a:alpha val="92000"/>
            </a:srgbClr>
          </a:solidFill>
          <a:ln w="12700">
            <a:solidFill>
              <a:srgbClr val="20D6E8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478231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Access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6112" y="5074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A8C1D8"/>
                </a:solidFill>
              </a:rPr>
              <a:t>DNS / NodePort / internal routes</a:t>
            </a:r>
            <a:endParaRPr lang="en-US" sz="640" dirty="0"/>
          </a:p>
        </p:txBody>
      </p:sp>
      <p:sp>
        <p:nvSpPr>
          <p:cNvPr id="11" name="Shape 8"/>
          <p:cNvSpPr/>
          <p:nvPr/>
        </p:nvSpPr>
        <p:spPr>
          <a:xfrm>
            <a:off x="2569464" y="461772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0A243F">
              <a:alpha val="92000"/>
            </a:srgbClr>
          </a:solidFill>
          <a:ln w="12700">
            <a:solidFill>
              <a:srgbClr val="1E6DF0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79192" y="478231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App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79192" y="5074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A8C1D8"/>
                </a:solidFill>
              </a:rPr>
              <a:t>Django + Gunicorn + module views</a:t>
            </a:r>
            <a:endParaRPr lang="en-US" sz="640" dirty="0"/>
          </a:p>
        </p:txBody>
      </p:sp>
      <p:sp>
        <p:nvSpPr>
          <p:cNvPr id="14" name="Shape 11"/>
          <p:cNvSpPr/>
          <p:nvPr/>
        </p:nvSpPr>
        <p:spPr>
          <a:xfrm>
            <a:off x="4352544" y="461772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0A243F">
              <a:alpha val="92000"/>
            </a:srgbClr>
          </a:solidFill>
          <a:ln w="1270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62272" y="478231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AI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62272" y="5074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A8C1D8"/>
                </a:solidFill>
              </a:rPr>
              <a:t>Ollama model serving + embeddings</a:t>
            </a:r>
            <a:endParaRPr lang="en-US" sz="640" dirty="0"/>
          </a:p>
        </p:txBody>
      </p:sp>
      <p:sp>
        <p:nvSpPr>
          <p:cNvPr id="17" name="Shape 14"/>
          <p:cNvSpPr/>
          <p:nvPr/>
        </p:nvSpPr>
        <p:spPr>
          <a:xfrm>
            <a:off x="6135624" y="461772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0A243F">
              <a:alpha val="92000"/>
            </a:srgbClr>
          </a:solidFill>
          <a:ln w="12700">
            <a:solidFill>
              <a:srgbClr val="37D689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45352" y="478231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Vector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45352" y="5074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A8C1D8"/>
                </a:solidFill>
              </a:rPr>
              <a:t>Qdrant collections and search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7918704" y="461772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0A243F">
              <a:alpha val="92000"/>
            </a:srgbClr>
          </a:solidFill>
          <a:ln w="12700">
            <a:solidFill>
              <a:srgbClr val="8A5CF6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28432" y="478231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Data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28432" y="5074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A8C1D8"/>
                </a:solidFill>
              </a:rPr>
              <a:t>NiFi + Oracle integrations</a:t>
            </a:r>
            <a:endParaRPr lang="en-US" sz="640" dirty="0"/>
          </a:p>
        </p:txBody>
      </p:sp>
      <p:sp>
        <p:nvSpPr>
          <p:cNvPr id="23" name="Shape 20"/>
          <p:cNvSpPr/>
          <p:nvPr/>
        </p:nvSpPr>
        <p:spPr>
          <a:xfrm>
            <a:off x="9701784" y="461772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0A243F">
              <a:alpha val="92000"/>
            </a:srgbClr>
          </a:solidFill>
          <a:ln w="12700">
            <a:solidFill>
              <a:srgbClr val="20D6E8">
                <a:alpha val="8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11512" y="478231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Ops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811512" y="5074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A8C1D8"/>
                </a:solidFill>
              </a:rPr>
              <a:t>Prometheus, Grafana, logs, backups</a:t>
            </a:r>
            <a:endParaRPr lang="en-US" sz="640" dirty="0"/>
          </a:p>
        </p:txBody>
      </p:sp>
      <p:sp>
        <p:nvSpPr>
          <p:cNvPr id="26" name="Text 23"/>
          <p:cNvSpPr/>
          <p:nvPr/>
        </p:nvSpPr>
        <p:spPr>
          <a:xfrm>
            <a:off x="868680" y="5733288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5F9FF"/>
                </a:solidFill>
              </a:rPr>
              <a:t>Why it matters: lower data exposure, stronger operational control, reusable infrastructure for future AI modules, and reduced dependency on external platforms.</a:t>
            </a:r>
            <a:endParaRPr lang="en-US" sz="1170" dirty="0"/>
          </a:p>
        </p:txBody>
      </p:sp>
      <p:sp>
        <p:nvSpPr>
          <p:cNvPr id="27" name="Text 24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AI, model, and data layer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 of reasoning, retrieval, and system-of-record facts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124712"/>
            <a:ext cx="10771632" cy="4754880"/>
          </a:xfrm>
          <a:prstGeom prst="roundRect">
            <a:avLst>
              <a:gd name="adj" fmla="val 1731"/>
            </a:avLst>
          </a:prstGeom>
          <a:solidFill>
            <a:srgbClr val="0B2848"/>
          </a:solidFill>
          <a:ln w="12700">
            <a:solidFill>
              <a:srgbClr val="295D87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865376"/>
            <a:ext cx="10405872" cy="0"/>
          </a:xfrm>
          <a:prstGeom prst="line">
            <a:avLst/>
          </a:prstGeom>
          <a:noFill/>
          <a:ln w="8890">
            <a:solidFill>
              <a:srgbClr val="234A70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53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D6E8"/>
                </a:solidFill>
              </a:rPr>
              <a:t>Generation model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063240" y="135331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5F9FF"/>
                </a:solidFill>
              </a:rPr>
              <a:t>Aya via Ollama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5349240" y="13533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8C1D8"/>
                </a:solidFill>
              </a:rPr>
              <a:t>Bangla/English explanation, summarization, controlled chat responses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6112" y="2542032"/>
            <a:ext cx="10405872" cy="0"/>
          </a:xfrm>
          <a:prstGeom prst="line">
            <a:avLst/>
          </a:prstGeom>
          <a:noFill/>
          <a:ln w="8890">
            <a:solidFill>
              <a:srgbClr val="234A7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D6E8"/>
                </a:solidFill>
              </a:rPr>
              <a:t>Embedding model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063240" y="202996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5F9FF"/>
                </a:solidFill>
              </a:rPr>
              <a:t>nomic-embed-text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5349240" y="20299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8C1D8"/>
                </a:solidFill>
              </a:rPr>
              <a:t>Creates 768-dimensional vectors for Qdrant semantic search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" y="3218688"/>
            <a:ext cx="10405872" cy="0"/>
          </a:xfrm>
          <a:prstGeom prst="line">
            <a:avLst/>
          </a:prstGeom>
          <a:noFill/>
          <a:ln w="8890">
            <a:solidFill>
              <a:srgbClr val="234A70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06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D6E8"/>
                </a:solidFill>
              </a:rPr>
              <a:t>Vector database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3063240" y="27066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5F9FF"/>
                </a:solidFill>
              </a:rPr>
              <a:t>Qdrant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349240" y="2706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8C1D8"/>
                </a:solidFill>
              </a:rPr>
              <a:t>Collections for HR notices, policies, website, cashflow, core/customer support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6112" y="3895344"/>
            <a:ext cx="10405872" cy="0"/>
          </a:xfrm>
          <a:prstGeom prst="line">
            <a:avLst/>
          </a:prstGeom>
          <a:noFill/>
          <a:ln w="8890">
            <a:solidFill>
              <a:srgbClr val="234A7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D6E8"/>
                </a:solidFill>
              </a:rPr>
              <a:t>Workflow engine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3063240" y="338328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5F9FF"/>
                </a:solidFill>
              </a:rPr>
              <a:t>Apache NiFi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5349240" y="33832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8C1D8"/>
                </a:solidFill>
              </a:rPr>
              <a:t>Controlled HTTP APIs for Oracle queries and integration steps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6112" y="4572000"/>
            <a:ext cx="10405872" cy="0"/>
          </a:xfrm>
          <a:prstGeom prst="line">
            <a:avLst/>
          </a:prstGeom>
          <a:noFill/>
          <a:ln w="8890">
            <a:solidFill>
              <a:srgbClr val="234A70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59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D6E8"/>
                </a:solidFill>
              </a:rPr>
              <a:t>System of record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3063240" y="405993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5F9FF"/>
                </a:solidFill>
              </a:rPr>
              <a:t>Oracle DW/Core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5349240" y="40599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8C1D8"/>
                </a:solidFill>
              </a:rPr>
              <a:t>Authoritative operational facts, loan/customer metrics, transaction 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96112" y="5248656"/>
            <a:ext cx="10405872" cy="0"/>
          </a:xfrm>
          <a:prstGeom prst="line">
            <a:avLst/>
          </a:prstGeom>
          <a:noFill/>
          <a:ln w="8890">
            <a:solidFill>
              <a:srgbClr val="234A70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36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0D6E8"/>
                </a:solidFill>
              </a:rPr>
              <a:t>Persistence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3063240" y="473659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5F9FF"/>
                </a:solidFill>
              </a:rPr>
              <a:t>NFS volumes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349240" y="47365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8C1D8"/>
                </a:solidFill>
              </a:rPr>
              <a:t>Model cache, document storage, service data, backups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modules: HR, policy, and notices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internal documents into governed Q&amp;A and self-service support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9903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" y="14493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139903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HR Policy RAG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293522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policy JSONL imports, topic metadata, clause ranges, Bangla/English labels, and grounded answers.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25696" y="1234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139903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3148" y="14493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0" y="139903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Notice RAG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626864" y="1783080"/>
            <a:ext cx="293522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upload, notice metadata, Qdrant indexing, list/detail/search/reindex routes, and role-based retrieval.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39903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5612" y="144932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41664" y="139903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Admin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339328" y="1783080"/>
            <a:ext cx="293522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tools to browse Qdrant collections, upload JSONL, manage topics, and restore/copy collections.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1005840" y="3474720"/>
            <a:ext cx="10149840" cy="1170432"/>
          </a:xfrm>
          <a:prstGeom prst="roundRect">
            <a:avLst>
              <a:gd name="adj" fmla="val 9375"/>
            </a:avLst>
          </a:prstGeom>
          <a:solidFill>
            <a:srgbClr val="0A243F">
              <a:alpha val="97000"/>
            </a:srgbClr>
          </a:solidFill>
          <a:ln w="12700">
            <a:solidFill>
              <a:srgbClr val="20D6E8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6850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D6E8"/>
                </a:solidFill>
              </a:rPr>
              <a:t>User experience example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20440" y="3685032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9FF"/>
                </a:solidFill>
              </a:rPr>
              <a:t>“What is the leave policy?” or “Show recent circular about HR benefits” → router selects HR/notice collection → retrieves approved source → assistant answers in Bangla or English.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43000" y="52578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07592" y="5385816"/>
            <a:ext cx="168249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B454"/>
                </a:solidFill>
              </a:rPr>
              <a:t>Upload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5817413"/>
            <a:ext cx="16459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Admin-controlled ingestion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493008" y="52578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37D689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5385816"/>
            <a:ext cx="168249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7D689"/>
                </a:solidFill>
              </a:rPr>
              <a:t>Index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675888" y="5817413"/>
            <a:ext cx="16459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Vector search in Qdrant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5843016" y="52578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7608" y="5385816"/>
            <a:ext cx="168249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D6E8"/>
                </a:solidFill>
              </a:rPr>
              <a:t>Answer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25896" y="5817413"/>
            <a:ext cx="16459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Grounded by approved source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8193024" y="52578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8A5CF6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5385816"/>
            <a:ext cx="1682496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A5CF6"/>
                </a:solidFill>
              </a:rPr>
              <a:t>Reindex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75904" y="5817413"/>
            <a:ext cx="16459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Continuous updates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modules: core, loan, and customer support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static Q&amp;A to live operational intelligence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225296"/>
            <a:ext cx="5074920" cy="1426464"/>
          </a:xfrm>
          <a:prstGeom prst="roundRect">
            <a:avLst>
              <a:gd name="adj" fmla="val 512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89888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" y="144018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▦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1389888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Core/Loan queries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14400" y="1773936"/>
            <a:ext cx="4672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code, loanee number, balance, paid amount, transaction date, and other operational data via Oracle/NiFi.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291072" y="1225296"/>
            <a:ext cx="5074920" cy="1426464"/>
          </a:xfrm>
          <a:prstGeom prst="roundRect">
            <a:avLst>
              <a:gd name="adj" fmla="val 512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389888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8524" y="144018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94576" y="1389888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support knowledge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6492240" y="1773936"/>
            <a:ext cx="4672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support answers, customer-facing guidance, ticket creation/status paths for authorized roles.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13232" y="3191256"/>
            <a:ext cx="5074920" cy="1426464"/>
          </a:xfrm>
          <a:prstGeom prst="roundRect">
            <a:avLst>
              <a:gd name="adj" fmla="val 512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355848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" y="340614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16736" y="3355848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Sensitive data rules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14400" y="3739896"/>
            <a:ext cx="4672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staff, support staff, managers, and admin roles receive different capabilities.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291072" y="3191256"/>
            <a:ext cx="5074920" cy="1426464"/>
          </a:xfrm>
          <a:prstGeom prst="roundRect">
            <a:avLst>
              <a:gd name="adj" fmla="val 5128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355848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8524" y="340614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SQL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94576" y="3355848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guardrails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6492240" y="3739896"/>
            <a:ext cx="4672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extraction and templates reduce unsafe free-form database queries.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1234440" y="562356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5F9FF"/>
                </a:solidFill>
              </a:rPr>
              <a:t>Strategic value: branch and support teams can ask business questions in natural language while the system keeps authoritative data in Oracle.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website RAG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public Q&amp;A without exposing internal systems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2057400" y="2971800"/>
            <a:ext cx="1600200" cy="0"/>
          </a:xfrm>
          <a:prstGeom prst="line">
            <a:avLst/>
          </a:prstGeom>
          <a:noFill/>
          <a:ln w="17780">
            <a:solidFill>
              <a:srgbClr val="37D689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32120" y="2971800"/>
            <a:ext cx="1600200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006840" y="2971800"/>
            <a:ext cx="1417320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3232" y="2322576"/>
            <a:ext cx="1353312" cy="1216152"/>
          </a:xfrm>
          <a:prstGeom prst="roundRect">
            <a:avLst>
              <a:gd name="adj" fmla="val 6015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32304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Website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burobd.org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public content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3657600" y="2322576"/>
            <a:ext cx="1874520" cy="1216152"/>
          </a:xfrm>
          <a:prstGeom prst="roundRect">
            <a:avLst>
              <a:gd name="adj" fmla="val 6015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2432304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Daily sync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3767328" y="2743200"/>
            <a:ext cx="1655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Clean &amp; Sync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Sync only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Admin trigger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7132320" y="2322576"/>
            <a:ext cx="1874520" cy="1216152"/>
          </a:xfrm>
          <a:prstGeom prst="roundRect">
            <a:avLst>
              <a:gd name="adj" fmla="val 6015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1E6DF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2432304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Qdrant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242048" y="2743200"/>
            <a:ext cx="1655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buro_website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public collection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10195560" y="2322576"/>
            <a:ext cx="1243584" cy="1216152"/>
          </a:xfrm>
          <a:prstGeom prst="roundRect">
            <a:avLst>
              <a:gd name="adj" fmla="val 6015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05288" y="2432304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Public Q&amp;A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0305288" y="2743200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No login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Safe scope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68680" y="4709160"/>
            <a:ext cx="3108960" cy="896112"/>
          </a:xfrm>
          <a:prstGeom prst="roundRect">
            <a:avLst>
              <a:gd name="adj" fmla="val 8163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487375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6132" y="4924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72184" y="4873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1069848" y="5257800"/>
            <a:ext cx="2706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repetitive website/program questions and improves access for external stakeholders.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526280" y="4709160"/>
            <a:ext cx="3108960" cy="896112"/>
          </a:xfrm>
          <a:prstGeom prst="roundRect">
            <a:avLst>
              <a:gd name="adj" fmla="val 8163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487375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3732" y="4924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🔒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9784" y="4873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Isolation principle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4727448" y="5257800"/>
            <a:ext cx="2706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website questions must never route to HR, core, cashflow, or customer-sensitive modules.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183880" y="4709160"/>
            <a:ext cx="3108960" cy="896112"/>
          </a:xfrm>
          <a:prstGeom prst="roundRect">
            <a:avLst>
              <a:gd name="adj" fmla="val 8163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487375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1332" y="4924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4873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control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385048" y="5257800"/>
            <a:ext cx="2706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sync and collection health should be visible from the admin console.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Bangla-first user experience and voice path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improves when staff can use natural Bangla and simple voice input</a:t>
            </a: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D6E8"/>
                </a:solidFill>
              </a:rPr>
              <a:t>বাংলা প্রশ্ন → intent detection → secure module routing → grounded answer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233172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249631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7260" y="2546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অ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53312" y="2496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direction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50976" y="2880360"/>
            <a:ext cx="29992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Bangla and English questions through the Django chat UI, with model-side Bangla explanation using Aya.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407408" y="233172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249631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4860" y="2546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🎙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10912" y="2496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 STT option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4608576" y="2880360"/>
            <a:ext cx="29992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faster-whisper/whisper-server can provide controlled internal speech-to-text for Bangla users.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065008" y="2331720"/>
            <a:ext cx="3401568" cy="1298448"/>
          </a:xfrm>
          <a:prstGeom prst="roundRect">
            <a:avLst>
              <a:gd name="adj" fmla="val 5634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0456" y="249631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2460" y="2546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68512" y="2496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requirement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266176" y="2880360"/>
            <a:ext cx="29992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microphone capture, model selection, GPU/CPU planning, and browser permission handling.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005840" y="4754880"/>
            <a:ext cx="10149840" cy="594360"/>
          </a:xfrm>
          <a:prstGeom prst="roundRect">
            <a:avLst>
              <a:gd name="adj" fmla="val 15385"/>
            </a:avLst>
          </a:prstGeom>
          <a:solidFill>
            <a:srgbClr val="0B243F"/>
          </a:solidFill>
          <a:ln w="12700">
            <a:solidFill>
              <a:srgbClr val="8A5CF6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4928616"/>
            <a:ext cx="9646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9FF"/>
                </a:solidFill>
              </a:rPr>
              <a:t>Management message: Bangla support is not optional; it is the primary adoption lever for branch, field, and non-technical users.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console and operating 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control depends on visible administration and repeatable operations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5331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Qdrant Tools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collections, copy/restore, switch base URL, validate vector counts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135331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8012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↑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84064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Upload JSONL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681728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policy/topic ingestion for controlled knowledge updates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247888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3336" y="135331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5340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51392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HR Notice Admin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449056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Upload, list, detail, search, and reindex notices/circulars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13232" y="3172968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37560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" y="338785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↻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16736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Website Sync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914400" y="3721608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Admin-triggered clean sync, sync-only, and scheduled daily refresh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480560" y="3172968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337560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8012" y="338785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RB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84064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RBAC Admin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4681728" y="3721608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users, assign role/module access, separate sensitive functions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47888" y="3172968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03336" y="3337560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5340" y="338785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51392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Zypl Logs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449056" y="3721608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scoring history and troubleshoot batch/API flows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1920240" y="5623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9FF"/>
                </a:solidFill>
              </a:rPr>
              <a:t>Admin tools are the difference between a prototype and a maintainable enterprise platform.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and reliability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confidence for production-grade AI services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225296"/>
            <a:ext cx="2926080" cy="4370832"/>
          </a:xfrm>
          <a:prstGeom prst="roundRect">
            <a:avLst>
              <a:gd name="adj" fmla="val 3750"/>
            </a:avLst>
          </a:prstGeom>
          <a:solidFill>
            <a:srgbClr val="0A2B4D">
              <a:alpha val="96000"/>
            </a:srgbClr>
          </a:solidFill>
          <a:ln w="1270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361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D6E8"/>
                </a:solidFill>
              </a:rPr>
              <a:t>Service health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✓  Django / Gunicorn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✓  Qdrant endpoints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05840" y="28437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✓  Ollama generation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05840" y="32369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✓  NiFi flows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05840" y="36301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✓  Oracle availability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✓  Kubernetes pods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45152" y="1225296"/>
            <a:ext cx="2926080" cy="4370832"/>
          </a:xfrm>
          <a:prstGeom prst="roundRect">
            <a:avLst>
              <a:gd name="adj" fmla="val 3750"/>
            </a:avLst>
          </a:prstGeom>
          <a:solidFill>
            <a:srgbClr val="0A2B4D">
              <a:alpha val="96000"/>
            </a:srgbClr>
          </a:solidFill>
          <a:ln w="12700">
            <a:solidFill>
              <a:srgbClr val="37D68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361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D689"/>
                </a:solidFill>
              </a:rPr>
              <a:t>Production metrics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56048" y="20574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•  Question volume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956048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•  Latency by module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956048" y="28437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•  Error rate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956048" y="32369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•  Retrieval hit quality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956048" y="36301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•  Scoring throughput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956048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•  User adoption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577072" y="1225296"/>
            <a:ext cx="2926080" cy="4370832"/>
          </a:xfrm>
          <a:prstGeom prst="roundRect">
            <a:avLst>
              <a:gd name="adj" fmla="val 3750"/>
            </a:avLst>
          </a:prstGeom>
          <a:solidFill>
            <a:srgbClr val="0A2B4D">
              <a:alpha val="96000"/>
            </a:srgbClr>
          </a:solidFill>
          <a:ln w="1270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15361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</a:rPr>
              <a:t>Runbook controls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87968" y="20574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→  Backups / NFS data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887968" y="2450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→  Model cache checks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887968" y="28437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→  Collection restore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887968" y="32369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→  Fallback endpoints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887968" y="36301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→  Restart procedures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887968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→  Incident review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business benefits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value model for management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2423160" cy="1170432"/>
          </a:xfrm>
          <a:prstGeom prst="roundRect">
            <a:avLst>
              <a:gd name="adj" fmla="val 7813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20D6E8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362456"/>
            <a:ext cx="2093976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D6E8"/>
                </a:solidFill>
              </a:rPr>
              <a:t>Speed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2030334"/>
            <a:ext cx="2057400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Faster answers to policy, notice, customer, and data questions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3401568" y="1234440"/>
            <a:ext cx="2423160" cy="1170432"/>
          </a:xfrm>
          <a:prstGeom prst="roundRect">
            <a:avLst>
              <a:gd name="adj" fmla="val 7813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37D689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362456"/>
            <a:ext cx="2093976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7D689"/>
                </a:solidFill>
              </a:rPr>
              <a:t>Consistency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84448" y="2030334"/>
            <a:ext cx="2057400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Same approved answer logic across branches and departments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089904" y="1234440"/>
            <a:ext cx="2423160" cy="1170432"/>
          </a:xfrm>
          <a:prstGeom prst="roundRect">
            <a:avLst>
              <a:gd name="adj" fmla="val 7813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362456"/>
            <a:ext cx="2093976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B454"/>
                </a:solidFill>
              </a:rPr>
              <a:t>Control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72784" y="2030334"/>
            <a:ext cx="2057400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Internal hosting, RBAC, admin tools, audit-ready logs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8778240" y="1234440"/>
            <a:ext cx="2423160" cy="1170432"/>
          </a:xfrm>
          <a:prstGeom prst="roundRect">
            <a:avLst>
              <a:gd name="adj" fmla="val 7813"/>
            </a:avLst>
          </a:prstGeom>
          <a:solidFill>
            <a:srgbClr val="0A233F">
              <a:alpha val="96000"/>
            </a:srgbClr>
          </a:solidFill>
          <a:ln w="15240">
            <a:solidFill>
              <a:srgbClr val="8A5CF6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42832" y="1362456"/>
            <a:ext cx="2093976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A5CF6"/>
                </a:solidFill>
              </a:rPr>
              <a:t>Scale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61120" y="2030334"/>
            <a:ext cx="2057400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Reusable platform for new modules, data sources, and workflows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13232" y="288036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04495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" y="30952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16736" y="3044952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productivity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914400" y="3429000"/>
            <a:ext cx="46725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time searching documents; faster onboarding for new staff.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291072" y="288036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04495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8524" y="30952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94576" y="3044952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support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6492240" y="3429000"/>
            <a:ext cx="46725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Oracle data plus AI explanation improves clarity for operational questions.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13232" y="3904488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069080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" y="411937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16736" y="406908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quality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914400" y="4453128"/>
            <a:ext cx="46725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staff can respond faster with approved knowledge and live context.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291072" y="3904488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069080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8524" y="411937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94576" y="406908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management</a:t>
            </a:r>
            <a:endParaRPr lang="en-US" sz="1260" dirty="0"/>
          </a:p>
        </p:txBody>
      </p:sp>
      <p:sp>
        <p:nvSpPr>
          <p:cNvPr id="36" name="Text 34"/>
          <p:cNvSpPr/>
          <p:nvPr/>
        </p:nvSpPr>
        <p:spPr>
          <a:xfrm>
            <a:off x="6492240" y="4453128"/>
            <a:ext cx="46725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workflows are gated by role and internal infrastructure.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13232" y="4928616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" y="5093208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" y="514350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316736" y="5093208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 foundation</a:t>
            </a:r>
            <a:endParaRPr lang="en-US" sz="1260" dirty="0"/>
          </a:p>
        </p:txBody>
      </p:sp>
      <p:sp>
        <p:nvSpPr>
          <p:cNvPr id="41" name="Text 39"/>
          <p:cNvSpPr/>
          <p:nvPr/>
        </p:nvSpPr>
        <p:spPr>
          <a:xfrm>
            <a:off x="914400" y="5477256"/>
            <a:ext cx="4672584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can be added for scoring, logs, tickets, reports, and analytics.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controls and mitigation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risks are manageable when designed into operations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53312"/>
            <a:ext cx="347472" cy="347472"/>
          </a:xfrm>
          <a:prstGeom prst="ellipse">
            <a:avLst/>
          </a:prstGeom>
          <a:solidFill>
            <a:srgbClr val="FF6868">
              <a:alpha val="18000"/>
            </a:srgbClr>
          </a:solidFill>
          <a:ln w="12700">
            <a:solidFill>
              <a:srgbClr val="FF686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!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 risk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answers in Qdrant excerpts; say “not found” when source is unclear.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135331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8012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🔒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84064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leakage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681728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RBAC before retrieval/action; public website module isolated.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247888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3336" y="135331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5340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⏱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51392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latency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449056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Ollama timeouts, tune model size, add health checks and fallback messages.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13232" y="3182112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46704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" y="339699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▦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16736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correctness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914400" y="3730752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Oracle/NiFi for facts and numbers; LLM only explains retrieved results.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346704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8012" y="339699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84064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quality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4681728" y="3730752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 metadata, topic IDs, dates, language, and approval status before indexing.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47888" y="3182112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03336" y="3346704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5340" y="339699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51392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dependency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449056" y="3730752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admin tools, runbooks, backups, and service ownership model.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maturity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prototype capabilities to enterprise operating model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1389888" y="2423160"/>
            <a:ext cx="1965960" cy="0"/>
          </a:xfrm>
          <a:prstGeom prst="line">
            <a:avLst/>
          </a:prstGeom>
          <a:noFill/>
          <a:ln w="2540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121408"/>
            <a:ext cx="694944" cy="694944"/>
          </a:xfrm>
          <a:prstGeom prst="ellipse">
            <a:avLst/>
          </a:prstGeom>
          <a:solidFill>
            <a:srgbClr val="37D689">
              <a:alpha val="55000"/>
            </a:srgbClr>
          </a:solidFill>
          <a:ln w="19050">
            <a:solidFill>
              <a:srgbClr val="37D6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7864" y="23134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" y="31546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689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" y="354787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On-prem stack: Django, Ollama, Qdrant, NiFi, Oracle, K8s, NFS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611880" y="2423160"/>
            <a:ext cx="1965960" cy="0"/>
          </a:xfrm>
          <a:prstGeom prst="line">
            <a:avLst/>
          </a:prstGeom>
          <a:noFill/>
          <a:ln w="2540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2121408"/>
            <a:ext cx="694944" cy="694944"/>
          </a:xfrm>
          <a:prstGeom prst="ellipse">
            <a:avLst/>
          </a:prstGeom>
          <a:solidFill>
            <a:srgbClr val="37D689">
              <a:alpha val="55000"/>
            </a:srgbClr>
          </a:solidFill>
          <a:ln w="19050">
            <a:solidFill>
              <a:srgbClr val="37D6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23134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62656" y="31546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689"/>
                </a:solidFill>
              </a:rPr>
              <a:t>Module delivery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79776" y="354787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HR, policy, notice, website RAG, core data, cashflow scoring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833872" y="2423160"/>
            <a:ext cx="1965960" cy="0"/>
          </a:xfrm>
          <a:prstGeom prst="line">
            <a:avLst/>
          </a:prstGeom>
          <a:noFill/>
          <a:ln w="2540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2121408"/>
            <a:ext cx="694944" cy="694944"/>
          </a:xfrm>
          <a:prstGeom prst="ellipse">
            <a:avLst/>
          </a:prstGeom>
          <a:solidFill>
            <a:srgbClr val="37D689">
              <a:alpha val="55000"/>
            </a:srgbClr>
          </a:solidFill>
          <a:ln w="19050">
            <a:solidFill>
              <a:srgbClr val="37D6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1848" y="23134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84648" y="31546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689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01768" y="354787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RBAC, admin console, collection management, secure routing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8055864" y="2423160"/>
            <a:ext cx="1965960" cy="0"/>
          </a:xfrm>
          <a:prstGeom prst="line">
            <a:avLst/>
          </a:prstGeom>
          <a:noFill/>
          <a:ln w="2540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121408"/>
            <a:ext cx="694944" cy="694944"/>
          </a:xfrm>
          <a:prstGeom prst="ellipse">
            <a:avLst/>
          </a:prstGeom>
          <a:solidFill>
            <a:srgbClr val="20D6E8">
              <a:alpha val="25000"/>
            </a:srgbClr>
          </a:solidFill>
          <a:ln w="19050">
            <a:solidFill>
              <a:srgbClr val="20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3134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31546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D6E8"/>
                </a:solidFill>
              </a:rPr>
              <a:t>Production hardening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354787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Monitoring, runbooks, backups, latency controls, usage analytics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9930384" y="2121408"/>
            <a:ext cx="694944" cy="694944"/>
          </a:xfrm>
          <a:prstGeom prst="ellipse">
            <a:avLst/>
          </a:prstGeom>
          <a:solidFill>
            <a:srgbClr val="20D6E8">
              <a:alpha val="25000"/>
            </a:srgbClr>
          </a:solidFill>
          <a:ln w="19050">
            <a:solidFill>
              <a:srgbClr val="20D6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85832" y="23134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9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28632" y="31546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D6E8"/>
                </a:solidFill>
              </a:rPr>
              <a:t>Scale-out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45752" y="354787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A8C1D8"/>
                </a:solidFill>
              </a:rPr>
              <a:t>More departments, report generation, ticketing, voice, advanced workflows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2057400" y="5230368"/>
            <a:ext cx="8083296" cy="566928"/>
          </a:xfrm>
          <a:prstGeom prst="roundRect">
            <a:avLst>
              <a:gd name="adj" fmla="val 16129"/>
            </a:avLst>
          </a:prstGeom>
          <a:solidFill>
            <a:srgbClr val="0C2B49">
              <a:alpha val="97000"/>
            </a:srgbClr>
          </a:solidFill>
          <a:ln w="12700">
            <a:solidFill>
              <a:srgbClr val="37D689">
                <a:alpha val="6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67712" y="5404104"/>
            <a:ext cx="7662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9FF"/>
                </a:solidFill>
              </a:rPr>
              <a:t>Current position: strong technical foundation and working modules; next phase is standardization, monitoring, governance, and adoption.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to enterprise rollout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plan to move from working solution to managed platform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353312"/>
            <a:ext cx="2487168" cy="3950208"/>
          </a:xfrm>
          <a:prstGeom prst="roundRect">
            <a:avLst>
              <a:gd name="adj" fmla="val 4412"/>
            </a:avLst>
          </a:prstGeom>
          <a:solidFill>
            <a:srgbClr val="0A2A4B">
              <a:alpha val="97000"/>
            </a:srgbClr>
          </a:solidFill>
          <a:ln w="16510">
            <a:solidFill>
              <a:srgbClr val="20D6E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459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D6E8"/>
                </a:solidFill>
              </a:rPr>
              <a:t>0-30 days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1832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9FF"/>
                </a:solidFill>
              </a:rPr>
              <a:t>Stabilize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2788920"/>
            <a:ext cx="1975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C1D8"/>
                </a:solidFill>
              </a:rPr>
              <a:t>Finalize RBAC, admin links, known module routing, backup scripts, and production runbook.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47872" y="1353312"/>
            <a:ext cx="2487168" cy="3950208"/>
          </a:xfrm>
          <a:prstGeom prst="roundRect">
            <a:avLst>
              <a:gd name="adj" fmla="val 4412"/>
            </a:avLst>
          </a:prstGeom>
          <a:solidFill>
            <a:srgbClr val="0A2A4B">
              <a:alpha val="97000"/>
            </a:srgbClr>
          </a:solidFill>
          <a:ln w="16510">
            <a:solidFill>
              <a:srgbClr val="37D689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16459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D689"/>
                </a:solidFill>
              </a:rPr>
              <a:t>31-90 days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76472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9FF"/>
                </a:solidFill>
              </a:rPr>
              <a:t>Pilot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03904" y="2788920"/>
            <a:ext cx="1975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C1D8"/>
                </a:solidFill>
              </a:rPr>
              <a:t>Run pilot with HR, cashflow, support, and core data teams; capture feedback and metrics.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82512" y="1353312"/>
            <a:ext cx="2487168" cy="3950208"/>
          </a:xfrm>
          <a:prstGeom prst="roundRect">
            <a:avLst>
              <a:gd name="adj" fmla="val 4412"/>
            </a:avLst>
          </a:prstGeom>
          <a:solidFill>
            <a:srgbClr val="0A2A4B">
              <a:alpha val="97000"/>
            </a:srgbClr>
          </a:solidFill>
          <a:ln w="16510">
            <a:solidFill>
              <a:srgbClr val="FFB454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6459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454"/>
                </a:solidFill>
              </a:rPr>
              <a:t>3-6 months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1112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9FF"/>
                </a:solidFill>
              </a:rPr>
              <a:t>Scale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38544" y="2788920"/>
            <a:ext cx="1975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C1D8"/>
                </a:solidFill>
              </a:rPr>
              <a:t>Add dashboards, batch scoring, voice text input, improved RAG quality checks, and adoption training.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17152" y="1353312"/>
            <a:ext cx="2487168" cy="3950208"/>
          </a:xfrm>
          <a:prstGeom prst="roundRect">
            <a:avLst>
              <a:gd name="adj" fmla="val 4412"/>
            </a:avLst>
          </a:prstGeom>
          <a:solidFill>
            <a:srgbClr val="0A2A4B">
              <a:alpha val="97000"/>
            </a:srgbClr>
          </a:solidFill>
          <a:ln w="16510">
            <a:solidFill>
              <a:srgbClr val="8A5CF6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16459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5CF6"/>
                </a:solidFill>
              </a:rPr>
              <a:t>6-12 months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45752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9FF"/>
                </a:solidFill>
              </a:rPr>
              <a:t>Institutionalize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73184" y="2788920"/>
            <a:ext cx="1975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C1D8"/>
                </a:solidFill>
              </a:rPr>
              <a:t>Create AI governance committee, service ownership, model lifecycle, and new module pipeline.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5870448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5F9FF"/>
                </a:solidFill>
              </a:rPr>
              <a:t>Roadmap principle: stabilize first, then pilot with measurable adoption, then scale modules under governance.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decisions required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management support is needed to move forward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5331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platform direction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the enterprise AI assistant as an internal digital capability, not an isolated experiment.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135331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8012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84064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 module owners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681728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business module needs a responsible department owner for content quality and approval.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247888" y="1188720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3336" y="135331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5340" y="14036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51392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Authorize pilot users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449056" y="1737360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controlled pilot groups from HR, support, cashflow, core data, and management.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13232" y="3182112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46704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" y="339699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16736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governance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914400" y="3730752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data sensitivity rules, acceptable use, access approval, and escalation process.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346704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8012" y="339699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84064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production hardening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4681728" y="3730752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time for monitoring, backup, security review, GPU/CPU planning, and documentation.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47888" y="3182112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03336" y="3346704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5340" y="3396996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51392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value metrics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449056" y="3730752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adoption, time saved, query volume, latency, answer quality, and error reduction.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2212848" y="5715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D6E8"/>
                </a:solidFill>
              </a:rPr>
              <a:t>Decision request: approve a formal pilot and governance track for the next 90 days.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success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prove value after pilot launch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713232" y="1225296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89888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" y="144018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16736" y="1389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Adoption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14400" y="1773936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active users by department and role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80560" y="1225296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1389888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8012" y="144018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84064" y="1389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Productivity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681728" y="1773936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time saved per policy/data/support query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247888" y="1225296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3336" y="1389888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5340" y="144018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51392" y="1389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449056" y="1773936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helpfulness rating and retrieval evidence hit rate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13232" y="3218688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83280"/>
            <a:ext cx="347472" cy="347472"/>
          </a:xfrm>
          <a:prstGeom prst="ellipse">
            <a:avLst/>
          </a:prstGeom>
          <a:solidFill>
            <a:srgbClr val="1E6DF0">
              <a:alpha val="18000"/>
            </a:srgbClr>
          </a:solidFill>
          <a:ln w="12700">
            <a:solidFill>
              <a:srgbClr val="1E6DF0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" y="343357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16736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latency, errors, timeouts, uptime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480560" y="3218688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383280"/>
            <a:ext cx="347472" cy="347472"/>
          </a:xfrm>
          <a:prstGeom prst="ellipse">
            <a:avLst/>
          </a:prstGeom>
          <a:solidFill>
            <a:srgbClr val="8A5CF6">
              <a:alpha val="18000"/>
            </a:srgbClr>
          </a:solidFill>
          <a:ln w="12700">
            <a:solidFill>
              <a:srgbClr val="8A5CF6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8012" y="343357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84064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4681728" y="3767328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violations blocked, audit completeness, role review cycle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47888" y="3218688"/>
            <a:ext cx="3310128" cy="1417320"/>
          </a:xfrm>
          <a:prstGeom prst="roundRect">
            <a:avLst>
              <a:gd name="adj" fmla="val 5161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03336" y="3383280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5340" y="343357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51392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usage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449056" y="3767328"/>
            <a:ext cx="290779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requests, notices indexed, customer queries resolved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1874520" y="5687568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5F9FF"/>
                </a:solidFill>
              </a:rPr>
              <a:t>Recommended pilot dashboard: adoption + latency + answer quality + module usage + incident log.</a:t>
            </a:r>
            <a:endParaRPr lang="en-US" sz="1210" dirty="0"/>
          </a:p>
        </p:txBody>
      </p:sp>
      <p:sp>
        <p:nvSpPr>
          <p:cNvPr id="36" name="Text 34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operating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ownership plus IT platform ownership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2286000" y="3017520"/>
            <a:ext cx="1664208" cy="0"/>
          </a:xfrm>
          <a:prstGeom prst="line">
            <a:avLst/>
          </a:prstGeom>
          <a:noFill/>
          <a:ln w="17780">
            <a:solidFill>
              <a:srgbClr val="20D6E8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87568" y="3017520"/>
            <a:ext cx="1664208" cy="0"/>
          </a:xfrm>
          <a:prstGeom prst="line">
            <a:avLst/>
          </a:prstGeom>
          <a:noFill/>
          <a:ln w="17780">
            <a:solidFill>
              <a:srgbClr val="37D689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089136" y="3017520"/>
            <a:ext cx="1335024" cy="0"/>
          </a:xfrm>
          <a:prstGeom prst="line">
            <a:avLst/>
          </a:prstGeom>
          <a:noFill/>
          <a:ln w="17780">
            <a:solidFill>
              <a:srgbClr val="FFB45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9808" y="2221992"/>
            <a:ext cx="1536192" cy="1572768"/>
          </a:xfrm>
          <a:prstGeom prst="roundRect">
            <a:avLst>
              <a:gd name="adj" fmla="val 4762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37D689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331720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Business owners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859536" y="2642616"/>
            <a:ext cx="13167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Approve content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Define access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Validate answers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3950208" y="2221992"/>
            <a:ext cx="1737360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20D6E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233172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AI platform team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4059936" y="2642616"/>
            <a:ext cx="1517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Run app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Maintain models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Monitor quality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7351776" y="2221992"/>
            <a:ext cx="1737360" cy="1572768"/>
          </a:xfrm>
          <a:prstGeom prst="roundRect">
            <a:avLst>
              <a:gd name="adj" fmla="val 4651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233172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Data owners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461504" y="2642616"/>
            <a:ext cx="1517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Oracle/NiFi APIs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Data definitions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SQL guardrails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10149840" y="2221992"/>
            <a:ext cx="1371600" cy="1572768"/>
          </a:xfrm>
          <a:prstGeom prst="roundRect">
            <a:avLst>
              <a:gd name="adj" fmla="val 5333"/>
            </a:avLst>
          </a:prstGeom>
          <a:solidFill>
            <a:srgbClr val="0E2D4F">
              <a:alpha val="95000"/>
            </a:srgbClr>
          </a:solidFill>
          <a:ln w="13970">
            <a:solidFill>
              <a:srgbClr val="8A5CF6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59568" y="233172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5F9FF"/>
                </a:solidFill>
              </a:rPr>
              <a:t>Governance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0259568" y="2642616"/>
            <a:ext cx="115214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Policies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Risk review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8C1D8"/>
                </a:solidFill>
              </a:rPr>
              <a:t>Audit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960120" y="470916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87375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7572" y="4924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↻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63624" y="4873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lifecycle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1161288" y="5257800"/>
            <a:ext cx="270662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→ approve → index → test → publish → monitor.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526280" y="470916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487375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3732" y="4924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🔐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9784" y="4873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lifecycle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4727448" y="5257800"/>
            <a:ext cx="270662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→ approve → assign role → review periodically.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092440" y="470916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487375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9892" y="492404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95944" y="4873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lifecycle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293608" y="5257800"/>
            <a:ext cx="270662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→ deploy → monitor → update → rollback if needed.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isometric_3d_sci_fi_tech_infogra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76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9">
              <a:alpha val="66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7132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0D6E8"/>
                </a:solidFill>
              </a:rPr>
              <a:t>CLOSING MESSAGE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85800" y="138988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secure AI operating layer for the organization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13232" y="22677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7EAFF"/>
                </a:solidFill>
              </a:rPr>
              <a:t>The platform is ready to move from technical success to managed business adoption: governed, measurable, and expandable.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9808" y="38862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5256" y="4050792"/>
            <a:ext cx="347472" cy="347472"/>
          </a:xfrm>
          <a:prstGeom prst="ellipse">
            <a:avLst/>
          </a:prstGeom>
          <a:solidFill>
            <a:srgbClr val="37D689">
              <a:alpha val="18000"/>
            </a:srgbClr>
          </a:solidFill>
          <a:ln w="12700">
            <a:solidFill>
              <a:srgbClr val="37D689">
                <a:alpha val="5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7260" y="410108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353312" y="405079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 pilot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950976" y="443484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90-day controlled rollout with selected users.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493008" y="38862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48456" y="4050792"/>
            <a:ext cx="347472" cy="347472"/>
          </a:xfrm>
          <a:prstGeom prst="ellipse">
            <a:avLst/>
          </a:prstGeom>
          <a:solidFill>
            <a:srgbClr val="20D6E8">
              <a:alpha val="18000"/>
            </a:srgbClr>
          </a:solidFill>
          <a:ln w="12700">
            <a:solidFill>
              <a:srgbClr val="20D6E8">
                <a:alpha val="5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0460" y="410108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96512" y="405079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 owners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3694176" y="443484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and IT owners for each module.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6236208" y="38862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E2D4F">
              <a:alpha val="94000"/>
            </a:srgbClr>
          </a:solidFill>
          <a:ln w="12700">
            <a:solidFill>
              <a:srgbClr val="245A86">
                <a:alpha val="7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91656" y="4050792"/>
            <a:ext cx="347472" cy="347472"/>
          </a:xfrm>
          <a:prstGeom prst="ellipse">
            <a:avLst/>
          </a:prstGeom>
          <a:solidFill>
            <a:srgbClr val="FFB454">
              <a:alpha val="18000"/>
            </a:srgbClr>
          </a:solidFill>
          <a:ln w="12700">
            <a:solidFill>
              <a:srgbClr val="FFB454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3660" y="410108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39712" y="405079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value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6437376" y="443484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adoption, accuracy, latency, and impact.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731520" y="57972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D6E8"/>
                </a:solidFill>
              </a:rPr>
              <a:t>Thank you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technical inventory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86968"/>
            <a:ext cx="914400" cy="0"/>
          </a:xfrm>
          <a:prstGeom prst="line">
            <a:avLst/>
          </a:prstGeom>
          <a:noFill/>
          <a:ln w="27940">
            <a:solidFill>
              <a:srgbClr val="20D6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768" y="7863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8C1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platform components and example collections</a:t>
            </a: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D6E8"/>
                </a:solidFill>
              </a:rPr>
              <a:t>Application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88920" y="1188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Django app, module routers, admin URLs, role checks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0424160" cy="0"/>
          </a:xfrm>
          <a:prstGeom prst="line">
            <a:avLst/>
          </a:prstGeom>
          <a:noFill/>
          <a:ln w="8890">
            <a:solidFill>
              <a:srgbClr val="24547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D6E8"/>
                </a:solidFill>
              </a:rPr>
              <a:t>LLM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88920" y="1938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Aya via Ollama, dynamic model configuration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8680" y="2350008"/>
            <a:ext cx="10424160" cy="0"/>
          </a:xfrm>
          <a:prstGeom prst="line">
            <a:avLst/>
          </a:prstGeom>
          <a:noFill/>
          <a:ln w="8890">
            <a:solidFill>
              <a:srgbClr val="24547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D6E8"/>
                </a:solidFill>
              </a:rPr>
              <a:t>Embedding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2688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nomic-embed-text, 768-dim vectors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68680" y="3099816"/>
            <a:ext cx="10424160" cy="0"/>
          </a:xfrm>
          <a:prstGeom prst="line">
            <a:avLst/>
          </a:prstGeom>
          <a:noFill/>
          <a:ln w="8890">
            <a:solidFill>
              <a:srgbClr val="24547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38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D6E8"/>
                </a:solidFill>
              </a:rPr>
              <a:t>Vector DB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88920" y="3438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Qdrant with collections: hr_notices, buro_policy, buro_website, dw_cashflow, buro_core, etc.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68680" y="3849624"/>
            <a:ext cx="10424160" cy="0"/>
          </a:xfrm>
          <a:prstGeom prst="line">
            <a:avLst/>
          </a:prstGeom>
          <a:noFill/>
          <a:ln w="8890">
            <a:solidFill>
              <a:srgbClr val="24547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D6E8"/>
                </a:solidFill>
              </a:rPr>
              <a:t>Integration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88920" y="4187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NiFi HTTP APIs, Oracle 11g/DW/Core, Zypl API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68680" y="4599432"/>
            <a:ext cx="10424160" cy="0"/>
          </a:xfrm>
          <a:prstGeom prst="line">
            <a:avLst/>
          </a:prstGeom>
          <a:noFill/>
          <a:ln w="8890">
            <a:solidFill>
              <a:srgbClr val="24547A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37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D6E8"/>
                </a:solidFill>
              </a:rPr>
              <a:t>Infrastructure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88920" y="4937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5F9FF"/>
                </a:solidFill>
              </a:rPr>
              <a:t>On-prem Kubernetes, NFS, NodePort/internal DNS, Prometheus/Grafana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68680" y="5349240"/>
            <a:ext cx="10424160" cy="0"/>
          </a:xfrm>
          <a:prstGeom prst="line">
            <a:avLst/>
          </a:prstGeom>
          <a:noFill/>
          <a:ln w="8890">
            <a:solidFill>
              <a:srgbClr val="24547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580644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A8C1D8"/>
                </a:solidFill>
              </a:rPr>
              <a:t>Note: inventory should be validated against production before external circulation.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923544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F8AA5"/>
                </a:solidFill>
              </a:rPr>
              <a:t>May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4A8D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Internal Management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Assistant - Management Presentation</dc:title>
  <dc:subject>Enterprise AI Assistant Architecture and Management Briefing</dc:subject>
  <dc:creator>OpenAI</dc:creator>
  <cp:lastModifiedBy>OpenAI</cp:lastModifiedBy>
  <cp:revision>1</cp:revision>
  <dcterms:created xsi:type="dcterms:W3CDTF">2026-05-24T03:34:24Z</dcterms:created>
  <dcterms:modified xsi:type="dcterms:W3CDTF">2026-05-24T03:34:24Z</dcterms:modified>
</cp:coreProperties>
</file>